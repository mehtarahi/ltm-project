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nva Sans Bold" panose="020B0604020202020204" charset="0"/>
      <p:regular r:id="rId8"/>
    </p:embeddedFont>
    <p:embeddedFont>
      <p:font typeface="Montserrat" panose="00000500000000000000" pitchFamily="2" charset="0"/>
      <p:regular r:id="rId9"/>
    </p:embeddedFont>
    <p:embeddedFont>
      <p:font typeface="Montserrat Bold" panose="00000800000000000000"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3447"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5803" y="425852"/>
            <a:ext cx="1677389" cy="167738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4" name="Freeform 4"/>
          <p:cNvSpPr/>
          <p:nvPr/>
        </p:nvSpPr>
        <p:spPr>
          <a:xfrm>
            <a:off x="-798177" y="4491159"/>
            <a:ext cx="20127836" cy="11161800"/>
          </a:xfrm>
          <a:custGeom>
            <a:avLst/>
            <a:gdLst/>
            <a:ahLst/>
            <a:cxnLst/>
            <a:rect l="l" t="t" r="r" b="b"/>
            <a:pathLst>
              <a:path w="20127836" h="11161800">
                <a:moveTo>
                  <a:pt x="0" y="0"/>
                </a:moveTo>
                <a:lnTo>
                  <a:pt x="20127836" y="0"/>
                </a:lnTo>
                <a:lnTo>
                  <a:pt x="20127836" y="11161799"/>
                </a:lnTo>
                <a:lnTo>
                  <a:pt x="0" y="111617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633568" y="3100509"/>
            <a:ext cx="16488275" cy="3962400"/>
          </a:xfrm>
          <a:prstGeom prst="rect">
            <a:avLst/>
          </a:prstGeom>
        </p:spPr>
        <p:txBody>
          <a:bodyPr lIns="0" tIns="0" rIns="0" bIns="0" rtlCol="0" anchor="t">
            <a:spAutoFit/>
          </a:bodyPr>
          <a:lstStyle/>
          <a:p>
            <a:pPr algn="l">
              <a:lnSpc>
                <a:spcPts val="6299"/>
              </a:lnSpc>
            </a:pPr>
            <a:r>
              <a:rPr lang="en-US" sz="4500" dirty="0">
                <a:solidFill>
                  <a:srgbClr val="1C1C1C"/>
                </a:solidFill>
                <a:latin typeface="Montserrat"/>
                <a:ea typeface="Montserrat"/>
                <a:cs typeface="Montserrat"/>
                <a:sym typeface="Montserrat"/>
              </a:rPr>
              <a:t>Project 1: Agentic Al Assistant for Architectural Design and Project Coordination</a:t>
            </a:r>
          </a:p>
          <a:p>
            <a:pPr algn="l">
              <a:lnSpc>
                <a:spcPts val="6299"/>
              </a:lnSpc>
            </a:pPr>
            <a:endParaRPr lang="en-US" sz="4500" dirty="0">
              <a:solidFill>
                <a:srgbClr val="1C1C1C"/>
              </a:solidFill>
              <a:latin typeface="Montserrat"/>
              <a:ea typeface="Montserrat"/>
              <a:cs typeface="Montserrat"/>
              <a:sym typeface="Montserrat"/>
            </a:endParaRPr>
          </a:p>
          <a:p>
            <a:pPr marL="0" lvl="0" indent="0" algn="l">
              <a:lnSpc>
                <a:spcPts val="6299"/>
              </a:lnSpc>
              <a:spcBef>
                <a:spcPct val="0"/>
              </a:spcBef>
            </a:pPr>
            <a:r>
              <a:rPr lang="en-US" sz="4500" dirty="0">
                <a:solidFill>
                  <a:srgbClr val="1C1C1C"/>
                </a:solidFill>
                <a:latin typeface="Montserrat"/>
                <a:ea typeface="Montserrat"/>
                <a:cs typeface="Montserrat"/>
                <a:sym typeface="Montserrat"/>
              </a:rPr>
              <a:t>Project 2: AccessGov: An AI-Powered Assistive Platform for Accessing and Navigating Government Services</a:t>
            </a:r>
          </a:p>
        </p:txBody>
      </p:sp>
      <p:sp>
        <p:nvSpPr>
          <p:cNvPr id="6" name="Freeform 6"/>
          <p:cNvSpPr/>
          <p:nvPr/>
        </p:nvSpPr>
        <p:spPr>
          <a:xfrm>
            <a:off x="14573112" y="588466"/>
            <a:ext cx="3149852" cy="1352162"/>
          </a:xfrm>
          <a:custGeom>
            <a:avLst/>
            <a:gdLst/>
            <a:ahLst/>
            <a:cxnLst/>
            <a:rect l="l" t="t" r="r" b="b"/>
            <a:pathLst>
              <a:path w="3149852" h="1352162">
                <a:moveTo>
                  <a:pt x="0" y="0"/>
                </a:moveTo>
                <a:lnTo>
                  <a:pt x="3149852" y="0"/>
                </a:lnTo>
                <a:lnTo>
                  <a:pt x="3149852" y="1352162"/>
                </a:lnTo>
                <a:lnTo>
                  <a:pt x="0" y="1352162"/>
                </a:lnTo>
                <a:lnTo>
                  <a:pt x="0" y="0"/>
                </a:lnTo>
                <a:close/>
              </a:path>
            </a:pathLst>
          </a:custGeom>
          <a:blipFill>
            <a:blip r:embed="rId4"/>
            <a:stretch>
              <a:fillRect/>
            </a:stretch>
          </a:blipFill>
        </p:spPr>
        <p:txBody>
          <a:bodyPr/>
          <a:lstStyle/>
          <a:p>
            <a:endParaRPr lang="en-IN"/>
          </a:p>
        </p:txBody>
      </p:sp>
      <p:sp>
        <p:nvSpPr>
          <p:cNvPr id="7" name="TextBox 7"/>
          <p:cNvSpPr txBox="1">
            <a:spLocks noGrp="1"/>
          </p:cNvSpPr>
          <p:nvPr>
            <p:ph type="title" idx="4294967295"/>
          </p:nvPr>
        </p:nvSpPr>
        <p:spPr>
          <a:xfrm>
            <a:off x="2670012" y="1429824"/>
            <a:ext cx="12311559" cy="120396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9869"/>
              </a:lnSpc>
              <a:spcBef>
                <a:spcPts val="0"/>
              </a:spcBef>
              <a:spcAft>
                <a:spcPts val="0"/>
              </a:spcAft>
              <a:buClrTx/>
              <a:buSzTx/>
              <a:buFontTx/>
              <a:buNone/>
              <a:tabLst/>
              <a:defRPr/>
            </a:pPr>
            <a:r>
              <a:rPr kumimoji="0" lang="en-US" sz="6999" b="1" i="0" u="none" strike="noStrike" kern="1200" cap="none" spc="0" normalizeH="0" baseline="0" noProof="0" dirty="0">
                <a:ln>
                  <a:noFill/>
                </a:ln>
                <a:solidFill>
                  <a:srgbClr val="1C1C1C"/>
                </a:solidFill>
                <a:effectLst/>
                <a:uLnTx/>
                <a:uFillTx/>
                <a:latin typeface="Montserrat Bold"/>
                <a:ea typeface="Montserrat Bold"/>
                <a:cs typeface="Montserrat Bold"/>
                <a:sym typeface="Montserrat Bold"/>
              </a:rPr>
              <a:t>LTM Zeroth review</a:t>
            </a:r>
          </a:p>
        </p:txBody>
      </p:sp>
      <p:sp>
        <p:nvSpPr>
          <p:cNvPr id="8" name="TextBox 8"/>
          <p:cNvSpPr txBox="1"/>
          <p:nvPr/>
        </p:nvSpPr>
        <p:spPr>
          <a:xfrm>
            <a:off x="1923181" y="7569414"/>
            <a:ext cx="7962670" cy="762000"/>
          </a:xfrm>
          <a:prstGeom prst="rect">
            <a:avLst/>
          </a:prstGeom>
        </p:spPr>
        <p:txBody>
          <a:bodyPr lIns="0" tIns="0" rIns="0" bIns="0" rtlCol="0" anchor="t">
            <a:spAutoFit/>
          </a:bodyPr>
          <a:lstStyle/>
          <a:p>
            <a:pPr marL="0" lvl="0" indent="0" algn="l">
              <a:lnSpc>
                <a:spcPts val="6299"/>
              </a:lnSpc>
              <a:spcBef>
                <a:spcPct val="0"/>
              </a:spcBef>
            </a:pPr>
            <a:r>
              <a:rPr lang="en-US" sz="4500">
                <a:solidFill>
                  <a:srgbClr val="1C1C1C"/>
                </a:solidFill>
                <a:latin typeface="Montserrat"/>
                <a:ea typeface="Montserrat"/>
                <a:cs typeface="Montserrat"/>
                <a:sym typeface="Montserrat"/>
              </a:rPr>
              <a:t>Name: Rahi Sanxipt Mehta</a:t>
            </a:r>
          </a:p>
        </p:txBody>
      </p:sp>
      <p:sp>
        <p:nvSpPr>
          <p:cNvPr id="9" name="TextBox 9"/>
          <p:cNvSpPr txBox="1"/>
          <p:nvPr/>
        </p:nvSpPr>
        <p:spPr>
          <a:xfrm>
            <a:off x="10223216" y="7569414"/>
            <a:ext cx="5385824" cy="762000"/>
          </a:xfrm>
          <a:prstGeom prst="rect">
            <a:avLst/>
          </a:prstGeom>
        </p:spPr>
        <p:txBody>
          <a:bodyPr lIns="0" tIns="0" rIns="0" bIns="0" rtlCol="0" anchor="t">
            <a:spAutoFit/>
          </a:bodyPr>
          <a:lstStyle/>
          <a:p>
            <a:pPr marL="0" lvl="0" indent="0" algn="l">
              <a:lnSpc>
                <a:spcPts val="6299"/>
              </a:lnSpc>
              <a:spcBef>
                <a:spcPct val="0"/>
              </a:spcBef>
            </a:pPr>
            <a:r>
              <a:rPr lang="en-US" sz="4500">
                <a:solidFill>
                  <a:srgbClr val="1C1C1C"/>
                </a:solidFill>
                <a:latin typeface="Montserrat"/>
                <a:ea typeface="Montserrat"/>
                <a:cs typeface="Montserrat"/>
                <a:sym typeface="Montserrat"/>
              </a:rPr>
              <a:t>TID: T9998</a:t>
            </a:r>
          </a:p>
        </p:txBody>
      </p:sp>
      <p:sp>
        <p:nvSpPr>
          <p:cNvPr id="10" name="TextBox 10"/>
          <p:cNvSpPr txBox="1"/>
          <p:nvPr/>
        </p:nvSpPr>
        <p:spPr>
          <a:xfrm>
            <a:off x="1677389" y="8496300"/>
            <a:ext cx="13909050" cy="762000"/>
          </a:xfrm>
          <a:prstGeom prst="rect">
            <a:avLst/>
          </a:prstGeom>
        </p:spPr>
        <p:txBody>
          <a:bodyPr lIns="0" tIns="0" rIns="0" bIns="0" rtlCol="0" anchor="t">
            <a:spAutoFit/>
          </a:bodyPr>
          <a:lstStyle/>
          <a:p>
            <a:pPr marL="0" lvl="0" indent="0" algn="l">
              <a:lnSpc>
                <a:spcPts val="6299"/>
              </a:lnSpc>
              <a:spcBef>
                <a:spcPct val="0"/>
              </a:spcBef>
            </a:pPr>
            <a:r>
              <a:rPr lang="en-US" sz="4500">
                <a:solidFill>
                  <a:srgbClr val="1C1C1C"/>
                </a:solidFill>
                <a:latin typeface="Montserrat"/>
                <a:ea typeface="Montserrat"/>
                <a:cs typeface="Montserrat"/>
                <a:sym typeface="Montserrat"/>
              </a:rPr>
              <a:t>College: Vellore Institute of Technology, Chennai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sp>
        <p:nvSpPr>
          <p:cNvPr id="3" name="Freeform 3"/>
          <p:cNvSpPr/>
          <p:nvPr/>
        </p:nvSpPr>
        <p:spPr>
          <a:xfrm rot="-10800000">
            <a:off x="13959558" y="6682068"/>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grpSp>
        <p:nvGrpSpPr>
          <p:cNvPr id="4" name="Group 4"/>
          <p:cNvGrpSpPr/>
          <p:nvPr/>
        </p:nvGrpSpPr>
        <p:grpSpPr>
          <a:xfrm>
            <a:off x="1014224" y="8058427"/>
            <a:ext cx="1199873" cy="119987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3CD3"/>
            </a:solidFill>
          </p:spPr>
          <p:txBody>
            <a:bodyPr/>
            <a:lstStyle/>
            <a:p>
              <a:endParaRPr lang="en-IN"/>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8309737"/>
            <a:ext cx="1113905" cy="629303"/>
          </a:xfrm>
          <a:prstGeom prst="rect">
            <a:avLst/>
          </a:prstGeom>
        </p:spPr>
        <p:txBody>
          <a:bodyPr lIns="0" tIns="0" rIns="0" bIns="0" rtlCol="0" anchor="t">
            <a:spAutoFit/>
          </a:bodyPr>
          <a:lstStyle/>
          <a:p>
            <a:pPr algn="ctr">
              <a:lnSpc>
                <a:spcPts val="5213"/>
              </a:lnSpc>
            </a:pPr>
            <a:r>
              <a:rPr lang="en-US" sz="3724" b="1">
                <a:solidFill>
                  <a:srgbClr val="FFFFFF"/>
                </a:solidFill>
                <a:latin typeface="Montserrat Bold"/>
                <a:ea typeface="Montserrat Bold"/>
                <a:cs typeface="Montserrat Bold"/>
                <a:sym typeface="Montserrat Bold"/>
              </a:rPr>
              <a:t>1</a:t>
            </a:r>
          </a:p>
        </p:txBody>
      </p:sp>
      <p:sp>
        <p:nvSpPr>
          <p:cNvPr id="8" name="TextBox 8"/>
          <p:cNvSpPr txBox="1"/>
          <p:nvPr/>
        </p:nvSpPr>
        <p:spPr>
          <a:xfrm>
            <a:off x="5400702" y="895350"/>
            <a:ext cx="7486596" cy="1120775"/>
          </a:xfrm>
          <a:prstGeom prst="rect">
            <a:avLst/>
          </a:prstGeom>
        </p:spPr>
        <p:txBody>
          <a:bodyPr lIns="0" tIns="0" rIns="0" bIns="0" rtlCol="0" anchor="t">
            <a:spAutoFit/>
          </a:bodyPr>
          <a:lstStyle/>
          <a:p>
            <a:pPr algn="ctr">
              <a:lnSpc>
                <a:spcPts val="9100"/>
              </a:lnSpc>
            </a:pPr>
            <a:r>
              <a:rPr lang="en-US" sz="6500" b="1" dirty="0">
                <a:solidFill>
                  <a:srgbClr val="000000"/>
                </a:solidFill>
                <a:latin typeface="Montserrat Bold"/>
                <a:ea typeface="Montserrat Bold"/>
                <a:cs typeface="Montserrat Bold"/>
                <a:sym typeface="Montserrat Bold"/>
              </a:rPr>
              <a:t>Project 1</a:t>
            </a:r>
          </a:p>
        </p:txBody>
      </p:sp>
      <p:sp>
        <p:nvSpPr>
          <p:cNvPr id="9" name="TextBox 9"/>
          <p:cNvSpPr txBox="1"/>
          <p:nvPr/>
        </p:nvSpPr>
        <p:spPr>
          <a:xfrm>
            <a:off x="2610211" y="2276481"/>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Problem</a:t>
            </a:r>
            <a:r>
              <a:rPr lang="en-US" sz="2687" b="1" dirty="0">
                <a:solidFill>
                  <a:srgbClr val="000000"/>
                </a:solidFill>
                <a:latin typeface="Canva Sans Bold"/>
                <a:ea typeface="Canva Sans Bold"/>
                <a:cs typeface="Canva Sans Bold"/>
                <a:sym typeface="Canva Sans Bold"/>
              </a:rPr>
              <a:t> Statement</a:t>
            </a:r>
          </a:p>
        </p:txBody>
      </p:sp>
      <p:sp>
        <p:nvSpPr>
          <p:cNvPr id="10" name="TextBox 10"/>
          <p:cNvSpPr txBox="1"/>
          <p:nvPr/>
        </p:nvSpPr>
        <p:spPr>
          <a:xfrm>
            <a:off x="2610211" y="5897591"/>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Objectives</a:t>
            </a:r>
            <a:endParaRPr lang="en-US" sz="2687" b="1" dirty="0">
              <a:solidFill>
                <a:srgbClr val="000000"/>
              </a:solidFill>
              <a:latin typeface="Canva Sans Bold"/>
              <a:ea typeface="Canva Sans Bold"/>
              <a:cs typeface="Canva Sans Bold"/>
              <a:sym typeface="Canva Sans Bold"/>
            </a:endParaRPr>
          </a:p>
        </p:txBody>
      </p:sp>
      <p:sp>
        <p:nvSpPr>
          <p:cNvPr id="11" name="TextBox 11"/>
          <p:cNvSpPr txBox="1"/>
          <p:nvPr/>
        </p:nvSpPr>
        <p:spPr>
          <a:xfrm>
            <a:off x="2621097" y="2664882"/>
            <a:ext cx="12401187" cy="3000821"/>
          </a:xfrm>
          <a:prstGeom prst="rect">
            <a:avLst/>
          </a:prstGeom>
        </p:spPr>
        <p:txBody>
          <a:bodyPr wrap="square" lIns="0" tIns="0" rIns="0" bIns="0" rtlCol="0" anchor="t">
            <a:spAutoFit/>
          </a:bodyPr>
          <a:lstStyle/>
          <a:p>
            <a:pPr algn="just">
              <a:lnSpc>
                <a:spcPts val="2557"/>
              </a:lnSpc>
              <a:spcBef>
                <a:spcPct val="0"/>
              </a:spcBef>
            </a:pPr>
            <a:r>
              <a:rPr lang="en-US" sz="2400" dirty="0">
                <a:solidFill>
                  <a:srgbClr val="000000"/>
                </a:solidFill>
                <a:latin typeface="Montserrat"/>
                <a:ea typeface="Montserrat"/>
                <a:cs typeface="Montserrat"/>
                <a:sym typeface="Montserrat"/>
              </a:rPr>
              <a:t>Architecture projects involve fragmented information, repetitive coordination tasks, multiple design-reviews, and research across multiple sources. All this is done manually by architects or stake holders. This creates unnecessary effort and makes it difficult and time consuming to maintain consistent project context.</a:t>
            </a:r>
          </a:p>
          <a:p>
            <a:pPr algn="just">
              <a:lnSpc>
                <a:spcPts val="2557"/>
              </a:lnSpc>
              <a:spcBef>
                <a:spcPct val="0"/>
              </a:spcBef>
            </a:pPr>
            <a:endParaRPr lang="en-US" sz="2400" dirty="0">
              <a:solidFill>
                <a:srgbClr val="000000"/>
              </a:solidFill>
              <a:latin typeface="Montserrat"/>
              <a:ea typeface="Montserrat"/>
              <a:cs typeface="Montserrat"/>
              <a:sym typeface="Montserrat"/>
            </a:endParaRPr>
          </a:p>
          <a:p>
            <a:pPr algn="just">
              <a:lnSpc>
                <a:spcPts val="2557"/>
              </a:lnSpc>
              <a:spcBef>
                <a:spcPct val="0"/>
              </a:spcBef>
            </a:pPr>
            <a:r>
              <a:rPr lang="en-US" sz="2400" dirty="0">
                <a:solidFill>
                  <a:srgbClr val="000000"/>
                </a:solidFill>
                <a:latin typeface="Montserrat"/>
                <a:ea typeface="Montserrat"/>
                <a:cs typeface="Montserrat"/>
                <a:sym typeface="Montserrat"/>
              </a:rPr>
              <a:t>This project aims to address this by creating an AI-Powered architectural assistant capable of understanding project context, using specialized tools, performing multi-step tasks, and assisting users throughout common architectural design and coordination workflows.</a:t>
            </a:r>
          </a:p>
        </p:txBody>
      </p:sp>
      <p:sp>
        <p:nvSpPr>
          <p:cNvPr id="12" name="TextBox 12"/>
          <p:cNvSpPr txBox="1"/>
          <p:nvPr/>
        </p:nvSpPr>
        <p:spPr>
          <a:xfrm>
            <a:off x="2577553" y="6324402"/>
            <a:ext cx="12401187" cy="1333698"/>
          </a:xfrm>
          <a:prstGeom prst="rect">
            <a:avLst/>
          </a:prstGeom>
        </p:spPr>
        <p:txBody>
          <a:bodyPr wrap="square" lIns="0" tIns="0" rIns="0" bIns="0" rtlCol="0" anchor="t">
            <a:spAutoFit/>
          </a:bodyPr>
          <a:lstStyle/>
          <a:p>
            <a:pPr marL="540073" lvl="1" indent="-342900" algn="l">
              <a:lnSpc>
                <a:spcPts val="2557"/>
              </a:lnSpc>
              <a:buFont typeface="Arial" panose="020B0604020202020204" pitchFamily="34" charset="0"/>
              <a:buChar char="•"/>
            </a:pPr>
            <a:r>
              <a:rPr lang="en-US" sz="2400" dirty="0">
                <a:solidFill>
                  <a:srgbClr val="000000"/>
                </a:solidFill>
                <a:latin typeface="Montserrat"/>
                <a:ea typeface="Montserrat"/>
                <a:cs typeface="Montserrat"/>
                <a:sym typeface="Montserrat"/>
              </a:rPr>
              <a:t>Develop a project-aware AI Assistant</a:t>
            </a:r>
          </a:p>
          <a:p>
            <a:pPr marL="540073" lvl="1" indent="-342900" algn="l">
              <a:lnSpc>
                <a:spcPts val="2557"/>
              </a:lnSpc>
              <a:buFont typeface="Arial" panose="020B0604020202020204" pitchFamily="34" charset="0"/>
              <a:buChar char="•"/>
            </a:pPr>
            <a:r>
              <a:rPr lang="en-US" sz="2400" dirty="0">
                <a:solidFill>
                  <a:srgbClr val="000000"/>
                </a:solidFill>
                <a:latin typeface="Montserrat"/>
                <a:ea typeface="Montserrat"/>
                <a:cs typeface="Montserrat"/>
                <a:sym typeface="Montserrat"/>
              </a:rPr>
              <a:t>Enable Autonomous tool-based task execution</a:t>
            </a:r>
          </a:p>
          <a:p>
            <a:pPr marL="540073" lvl="1" indent="-342900" algn="l">
              <a:lnSpc>
                <a:spcPts val="2557"/>
              </a:lnSpc>
              <a:buFont typeface="Arial" panose="020B0604020202020204" pitchFamily="34" charset="0"/>
              <a:buChar char="•"/>
            </a:pPr>
            <a:r>
              <a:rPr lang="en-US" sz="2400" dirty="0">
                <a:solidFill>
                  <a:srgbClr val="000000"/>
                </a:solidFill>
                <a:latin typeface="Montserrat"/>
                <a:ea typeface="Montserrat"/>
                <a:cs typeface="Montserrat"/>
                <a:sym typeface="Montserrat"/>
              </a:rPr>
              <a:t>Provide AI-based architectural design review</a:t>
            </a:r>
          </a:p>
          <a:p>
            <a:pPr marL="540073" lvl="1" indent="-342900" algn="l">
              <a:lnSpc>
                <a:spcPts val="2557"/>
              </a:lnSpc>
              <a:buFont typeface="Arial" panose="020B0604020202020204" pitchFamily="34" charset="0"/>
              <a:buChar char="•"/>
            </a:pPr>
            <a:r>
              <a:rPr lang="en-US" sz="2400" dirty="0">
                <a:solidFill>
                  <a:srgbClr val="000000"/>
                </a:solidFill>
                <a:latin typeface="Montserrat"/>
                <a:ea typeface="Montserrat"/>
                <a:cs typeface="Montserrat"/>
                <a:sym typeface="Montserrat"/>
              </a:rPr>
              <a:t>Automate Architectural research and coordination</a:t>
            </a:r>
          </a:p>
        </p:txBody>
      </p:sp>
      <p:sp>
        <p:nvSpPr>
          <p:cNvPr id="13" name="TextBox 13"/>
          <p:cNvSpPr txBox="1"/>
          <p:nvPr/>
        </p:nvSpPr>
        <p:spPr>
          <a:xfrm>
            <a:off x="2610213" y="7862313"/>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Dataset</a:t>
            </a:r>
            <a:endParaRPr lang="en-US" sz="2687" b="1" dirty="0">
              <a:solidFill>
                <a:srgbClr val="000000"/>
              </a:solidFill>
              <a:latin typeface="Canva Sans Bold"/>
              <a:ea typeface="Canva Sans Bold"/>
              <a:cs typeface="Canva Sans Bold"/>
              <a:sym typeface="Canva Sans Bold"/>
            </a:endParaRPr>
          </a:p>
        </p:txBody>
      </p:sp>
      <p:sp>
        <p:nvSpPr>
          <p:cNvPr id="14" name="TextBox 14"/>
          <p:cNvSpPr txBox="1"/>
          <p:nvPr/>
        </p:nvSpPr>
        <p:spPr>
          <a:xfrm>
            <a:off x="2610211" y="8297518"/>
            <a:ext cx="12401187" cy="666849"/>
          </a:xfrm>
          <a:prstGeom prst="rect">
            <a:avLst/>
          </a:prstGeom>
        </p:spPr>
        <p:txBody>
          <a:bodyPr wrap="square" lIns="0" tIns="0" rIns="0" bIns="0" rtlCol="0" anchor="t">
            <a:spAutoFit/>
          </a:bodyPr>
          <a:lstStyle/>
          <a:p>
            <a:pPr algn="l">
              <a:lnSpc>
                <a:spcPts val="2557"/>
              </a:lnSpc>
            </a:pPr>
            <a:r>
              <a:rPr lang="en-US" sz="2400" dirty="0">
                <a:solidFill>
                  <a:srgbClr val="000000"/>
                </a:solidFill>
                <a:latin typeface="Montserrat"/>
                <a:ea typeface="Montserrat"/>
                <a:cs typeface="Montserrat"/>
                <a:sym typeface="Montserrat"/>
              </a:rPr>
              <a:t>Custom Dataset including public available architecture documents, CubiCasa5k – a floor plan dataset, project scenarios, agent evaluation dataset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sp>
        <p:nvSpPr>
          <p:cNvPr id="3" name="Freeform 3"/>
          <p:cNvSpPr/>
          <p:nvPr/>
        </p:nvSpPr>
        <p:spPr>
          <a:xfrm rot="-10800000">
            <a:off x="13959558" y="6682068"/>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grpSp>
        <p:nvGrpSpPr>
          <p:cNvPr id="4" name="Group 4"/>
          <p:cNvGrpSpPr/>
          <p:nvPr/>
        </p:nvGrpSpPr>
        <p:grpSpPr>
          <a:xfrm>
            <a:off x="1014224" y="8058427"/>
            <a:ext cx="1199873" cy="119987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3CD3"/>
            </a:solidFill>
          </p:spPr>
          <p:txBody>
            <a:bodyPr/>
            <a:lstStyle/>
            <a:p>
              <a:endParaRPr lang="en-IN"/>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8309737"/>
            <a:ext cx="1113905" cy="629303"/>
          </a:xfrm>
          <a:prstGeom prst="rect">
            <a:avLst/>
          </a:prstGeom>
        </p:spPr>
        <p:txBody>
          <a:bodyPr lIns="0" tIns="0" rIns="0" bIns="0" rtlCol="0" anchor="t">
            <a:spAutoFit/>
          </a:bodyPr>
          <a:lstStyle/>
          <a:p>
            <a:pPr algn="ctr">
              <a:lnSpc>
                <a:spcPts val="5213"/>
              </a:lnSpc>
            </a:pPr>
            <a:r>
              <a:rPr lang="en-US" sz="3724" b="1">
                <a:solidFill>
                  <a:srgbClr val="FFFFFF"/>
                </a:solidFill>
                <a:latin typeface="Montserrat Bold"/>
                <a:ea typeface="Montserrat Bold"/>
                <a:cs typeface="Montserrat Bold"/>
                <a:sym typeface="Montserrat Bold"/>
              </a:rPr>
              <a:t>2</a:t>
            </a:r>
          </a:p>
        </p:txBody>
      </p:sp>
      <p:sp>
        <p:nvSpPr>
          <p:cNvPr id="9" name="TextBox 9"/>
          <p:cNvSpPr txBox="1"/>
          <p:nvPr/>
        </p:nvSpPr>
        <p:spPr>
          <a:xfrm>
            <a:off x="2610213" y="1562100"/>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Tech Stack</a:t>
            </a:r>
          </a:p>
        </p:txBody>
      </p:sp>
      <p:sp>
        <p:nvSpPr>
          <p:cNvPr id="10" name="TextBox 10"/>
          <p:cNvSpPr txBox="1"/>
          <p:nvPr/>
        </p:nvSpPr>
        <p:spPr>
          <a:xfrm>
            <a:off x="2582999" y="7048500"/>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Expected outcome</a:t>
            </a:r>
          </a:p>
        </p:txBody>
      </p:sp>
      <p:sp>
        <p:nvSpPr>
          <p:cNvPr id="11" name="TextBox 11"/>
          <p:cNvSpPr txBox="1"/>
          <p:nvPr/>
        </p:nvSpPr>
        <p:spPr>
          <a:xfrm>
            <a:off x="2572113" y="1999555"/>
            <a:ext cx="14229987" cy="4667945"/>
          </a:xfrm>
          <a:prstGeom prst="rect">
            <a:avLst/>
          </a:prstGeom>
        </p:spPr>
        <p:txBody>
          <a:bodyPr wrap="square" lIns="0" tIns="0" rIns="0" bIns="0" rtlCol="0" anchor="t">
            <a:spAutoFit/>
          </a:bodyPr>
          <a:lstStyle/>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Agent orchestration: LangGraph</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LLM: Ollama + Llama 3.18</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Tool calling: LangChain Tools + Python tools</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Architecture/BIM : ifcopenshell + IFC</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Document Parsing: PyMuPDF + python-docx</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RAG/retrieval: LangChain + ChromaDB</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Frontend: Streamlit</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Backend API: Fast API</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Database: PostgreSQL</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Storage-Documents: MinlO</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Experiment Tracking and agent tracking: Mlflow</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Containerization: Docker</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CI/CD: GitHub Actions</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Deployment: Docker compose</a:t>
            </a:r>
          </a:p>
        </p:txBody>
      </p:sp>
      <p:sp>
        <p:nvSpPr>
          <p:cNvPr id="12" name="TextBox 12"/>
          <p:cNvSpPr txBox="1"/>
          <p:nvPr/>
        </p:nvSpPr>
        <p:spPr>
          <a:xfrm>
            <a:off x="2572113" y="7446843"/>
            <a:ext cx="9202901" cy="2333972"/>
          </a:xfrm>
          <a:prstGeom prst="rect">
            <a:avLst/>
          </a:prstGeom>
        </p:spPr>
        <p:txBody>
          <a:bodyPr lIns="0" tIns="0" rIns="0" bIns="0" rtlCol="0" anchor="t">
            <a:spAutoFit/>
          </a:bodyPr>
          <a:lstStyle/>
          <a:p>
            <a:pPr marL="197173" lvl="1" algn="l">
              <a:lnSpc>
                <a:spcPts val="2557"/>
              </a:lnSpc>
            </a:pPr>
            <a:r>
              <a:rPr lang="en-US" sz="2400" dirty="0">
                <a:solidFill>
                  <a:srgbClr val="000000"/>
                </a:solidFill>
                <a:latin typeface="Montserrat"/>
                <a:ea typeface="Montserrat"/>
                <a:cs typeface="Montserrat"/>
                <a:sym typeface="Montserrat"/>
              </a:rPr>
              <a:t>A web app where user can:</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Create an architectural project</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Add project requirements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Upload relevant documents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Interact with AI architectural assistant for various tasks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Receive structured reports/ recommendations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Maintain Project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sp>
        <p:nvSpPr>
          <p:cNvPr id="3" name="Freeform 3"/>
          <p:cNvSpPr/>
          <p:nvPr/>
        </p:nvSpPr>
        <p:spPr>
          <a:xfrm rot="-10800000">
            <a:off x="13959558" y="6682068"/>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dirty="0"/>
          </a:p>
        </p:txBody>
      </p:sp>
      <p:grpSp>
        <p:nvGrpSpPr>
          <p:cNvPr id="4" name="Group 4"/>
          <p:cNvGrpSpPr/>
          <p:nvPr/>
        </p:nvGrpSpPr>
        <p:grpSpPr>
          <a:xfrm>
            <a:off x="1014224" y="8058427"/>
            <a:ext cx="1199873" cy="119987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3CD3"/>
            </a:solidFill>
          </p:spPr>
          <p:txBody>
            <a:bodyPr/>
            <a:lstStyle/>
            <a:p>
              <a:endParaRPr lang="en-IN"/>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8309737"/>
            <a:ext cx="1113905" cy="629303"/>
          </a:xfrm>
          <a:prstGeom prst="rect">
            <a:avLst/>
          </a:prstGeom>
        </p:spPr>
        <p:txBody>
          <a:bodyPr lIns="0" tIns="0" rIns="0" bIns="0" rtlCol="0" anchor="t">
            <a:spAutoFit/>
          </a:bodyPr>
          <a:lstStyle/>
          <a:p>
            <a:pPr algn="ctr">
              <a:lnSpc>
                <a:spcPts val="5213"/>
              </a:lnSpc>
            </a:pPr>
            <a:r>
              <a:rPr lang="en-US" sz="3724" b="1">
                <a:solidFill>
                  <a:srgbClr val="FFFFFF"/>
                </a:solidFill>
                <a:latin typeface="Montserrat Bold"/>
                <a:ea typeface="Montserrat Bold"/>
                <a:cs typeface="Montserrat Bold"/>
                <a:sym typeface="Montserrat Bold"/>
              </a:rPr>
              <a:t>3</a:t>
            </a:r>
          </a:p>
        </p:txBody>
      </p:sp>
      <p:sp>
        <p:nvSpPr>
          <p:cNvPr id="8" name="TextBox 8"/>
          <p:cNvSpPr txBox="1"/>
          <p:nvPr/>
        </p:nvSpPr>
        <p:spPr>
          <a:xfrm>
            <a:off x="5400702" y="895350"/>
            <a:ext cx="7486596" cy="1120775"/>
          </a:xfrm>
          <a:prstGeom prst="rect">
            <a:avLst/>
          </a:prstGeom>
        </p:spPr>
        <p:txBody>
          <a:bodyPr lIns="0" tIns="0" rIns="0" bIns="0" rtlCol="0" anchor="t">
            <a:spAutoFit/>
          </a:bodyPr>
          <a:lstStyle/>
          <a:p>
            <a:pPr algn="ctr">
              <a:lnSpc>
                <a:spcPts val="9100"/>
              </a:lnSpc>
            </a:pPr>
            <a:r>
              <a:rPr lang="en-US" sz="6500" b="1">
                <a:solidFill>
                  <a:srgbClr val="000000"/>
                </a:solidFill>
                <a:latin typeface="Montserrat Bold"/>
                <a:ea typeface="Montserrat Bold"/>
                <a:cs typeface="Montserrat Bold"/>
                <a:sym typeface="Montserrat Bold"/>
              </a:rPr>
              <a:t>Project 2</a:t>
            </a:r>
          </a:p>
        </p:txBody>
      </p:sp>
      <p:sp>
        <p:nvSpPr>
          <p:cNvPr id="9" name="TextBox 9"/>
          <p:cNvSpPr txBox="1"/>
          <p:nvPr/>
        </p:nvSpPr>
        <p:spPr>
          <a:xfrm>
            <a:off x="2610213" y="2372764"/>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Problem Statement</a:t>
            </a:r>
          </a:p>
        </p:txBody>
      </p:sp>
      <p:sp>
        <p:nvSpPr>
          <p:cNvPr id="10" name="TextBox 10"/>
          <p:cNvSpPr txBox="1"/>
          <p:nvPr/>
        </p:nvSpPr>
        <p:spPr>
          <a:xfrm>
            <a:off x="2610213" y="5583357"/>
            <a:ext cx="5580978" cy="398343"/>
          </a:xfrm>
          <a:prstGeom prst="rect">
            <a:avLst/>
          </a:prstGeom>
        </p:spPr>
        <p:txBody>
          <a:bodyPr lIns="0" tIns="0" rIns="0" bIns="0" rtlCol="0" anchor="t">
            <a:spAutoFit/>
          </a:bodyPr>
          <a:lstStyle/>
          <a:p>
            <a:pPr algn="just">
              <a:lnSpc>
                <a:spcPts val="3036"/>
              </a:lnSpc>
            </a:pPr>
            <a:r>
              <a:rPr lang="en-US" sz="2687" b="1" dirty="0">
                <a:solidFill>
                  <a:srgbClr val="000000"/>
                </a:solidFill>
                <a:latin typeface="Canva Sans Bold"/>
                <a:ea typeface="Canva Sans Bold"/>
                <a:cs typeface="Canva Sans Bold"/>
                <a:sym typeface="Canva Sans Bold"/>
              </a:rPr>
              <a:t>Objectives</a:t>
            </a:r>
          </a:p>
        </p:txBody>
      </p:sp>
      <p:sp>
        <p:nvSpPr>
          <p:cNvPr id="11" name="TextBox 11"/>
          <p:cNvSpPr txBox="1"/>
          <p:nvPr/>
        </p:nvSpPr>
        <p:spPr>
          <a:xfrm>
            <a:off x="2610213" y="2771107"/>
            <a:ext cx="13391787" cy="2667397"/>
          </a:xfrm>
          <a:prstGeom prst="rect">
            <a:avLst/>
          </a:prstGeom>
        </p:spPr>
        <p:txBody>
          <a:bodyPr wrap="square" lIns="0" tIns="0" rIns="0" bIns="0" rtlCol="0" anchor="t">
            <a:spAutoFit/>
          </a:bodyPr>
          <a:lstStyle/>
          <a:p>
            <a:pPr algn="just">
              <a:lnSpc>
                <a:spcPts val="2557"/>
              </a:lnSpc>
              <a:spcBef>
                <a:spcPct val="0"/>
              </a:spcBef>
            </a:pPr>
            <a:r>
              <a:rPr lang="en-US" sz="2400" dirty="0">
                <a:solidFill>
                  <a:srgbClr val="000000"/>
                </a:solidFill>
                <a:latin typeface="Montserrat"/>
                <a:ea typeface="Montserrat"/>
                <a:cs typeface="Montserrat"/>
                <a:sym typeface="Montserrat"/>
              </a:rPr>
              <a:t>Government services often involve complex procedures, lengthy documents, fragmented information, and difficult terminology, making them challenging for citizens to understand and navigate. Users with accessibility or information-literacy barriers face additional difficulties for completing procedure.</a:t>
            </a:r>
          </a:p>
          <a:p>
            <a:pPr algn="just">
              <a:lnSpc>
                <a:spcPts val="2557"/>
              </a:lnSpc>
              <a:spcBef>
                <a:spcPct val="0"/>
              </a:spcBef>
            </a:pPr>
            <a:endParaRPr lang="en-US" sz="2400" dirty="0">
              <a:solidFill>
                <a:srgbClr val="000000"/>
              </a:solidFill>
              <a:latin typeface="Montserrat"/>
              <a:ea typeface="Montserrat"/>
              <a:cs typeface="Montserrat"/>
              <a:sym typeface="Montserrat"/>
            </a:endParaRPr>
          </a:p>
          <a:p>
            <a:pPr algn="just">
              <a:lnSpc>
                <a:spcPts val="2557"/>
              </a:lnSpc>
              <a:spcBef>
                <a:spcPct val="0"/>
              </a:spcBef>
            </a:pPr>
            <a:r>
              <a:rPr lang="en-US" sz="2400" dirty="0">
                <a:solidFill>
                  <a:srgbClr val="000000"/>
                </a:solidFill>
                <a:latin typeface="Montserrat"/>
                <a:ea typeface="Montserrat"/>
                <a:cs typeface="Montserrat"/>
                <a:sym typeface="Montserrat"/>
              </a:rPr>
              <a:t>This projects aims to address this by using a RAG based model to retrieve relevant information and the simplify and organize it using a LLM to make authoritative government information clear and accessible.</a:t>
            </a:r>
          </a:p>
        </p:txBody>
      </p:sp>
      <p:sp>
        <p:nvSpPr>
          <p:cNvPr id="12" name="TextBox 12"/>
          <p:cNvSpPr txBox="1"/>
          <p:nvPr/>
        </p:nvSpPr>
        <p:spPr>
          <a:xfrm>
            <a:off x="2597513" y="6022932"/>
            <a:ext cx="13252087" cy="1308243"/>
          </a:xfrm>
          <a:prstGeom prst="rect">
            <a:avLst/>
          </a:prstGeom>
        </p:spPr>
        <p:txBody>
          <a:bodyPr wrap="square" lIns="0" tIns="0" rIns="0" bIns="0" rtlCol="0" anchor="t">
            <a:spAutoFit/>
          </a:bodyPr>
          <a:lstStyle/>
          <a:p>
            <a:pPr marL="394347" lvl="1" indent="-197174" algn="l">
              <a:lnSpc>
                <a:spcPts val="2557"/>
              </a:lnSpc>
              <a:buFont typeface="Arial"/>
              <a:buChar char="•"/>
            </a:pPr>
            <a:r>
              <a:rPr lang="en-US" sz="2000" dirty="0">
                <a:solidFill>
                  <a:srgbClr val="000000"/>
                </a:solidFill>
                <a:latin typeface="Montserrat"/>
                <a:ea typeface="Montserrat"/>
                <a:cs typeface="Montserrat"/>
                <a:sym typeface="Montserrat"/>
              </a:rPr>
              <a:t>Build an authoritative government knowledge base</a:t>
            </a:r>
          </a:p>
          <a:p>
            <a:pPr marL="394347" lvl="1" indent="-197174" algn="l">
              <a:lnSpc>
                <a:spcPts val="2557"/>
              </a:lnSpc>
              <a:buFont typeface="Arial"/>
              <a:buChar char="•"/>
            </a:pPr>
            <a:r>
              <a:rPr lang="en-US" sz="2000" dirty="0">
                <a:solidFill>
                  <a:srgbClr val="000000"/>
                </a:solidFill>
                <a:latin typeface="Montserrat"/>
                <a:ea typeface="Montserrat"/>
                <a:cs typeface="Montserrat"/>
                <a:sym typeface="Montserrat"/>
              </a:rPr>
              <a:t>Develop a RAG-based information assistant</a:t>
            </a:r>
          </a:p>
          <a:p>
            <a:pPr marL="394347" lvl="1" indent="-197174" algn="l">
              <a:lnSpc>
                <a:spcPts val="2557"/>
              </a:lnSpc>
              <a:buFont typeface="Arial"/>
              <a:buChar char="•"/>
            </a:pPr>
            <a:r>
              <a:rPr lang="en-US" sz="2000" dirty="0">
                <a:solidFill>
                  <a:srgbClr val="000000"/>
                </a:solidFill>
                <a:latin typeface="Montserrat"/>
                <a:ea typeface="Montserrat"/>
                <a:cs typeface="Montserrat"/>
                <a:sym typeface="Montserrat"/>
              </a:rPr>
              <a:t>Make complex government information accessible</a:t>
            </a:r>
          </a:p>
          <a:p>
            <a:pPr marL="394347" lvl="1" indent="-197174" algn="l">
              <a:lnSpc>
                <a:spcPts val="2557"/>
              </a:lnSpc>
              <a:buFont typeface="Arial"/>
              <a:buChar char="•"/>
            </a:pPr>
            <a:r>
              <a:rPr lang="en-US" sz="2000" dirty="0">
                <a:solidFill>
                  <a:srgbClr val="000000"/>
                </a:solidFill>
                <a:latin typeface="Montserrat"/>
                <a:ea typeface="Montserrat"/>
                <a:cs typeface="Montserrat"/>
                <a:sym typeface="Montserrat"/>
              </a:rPr>
              <a:t>Help user navigate and complete procedure</a:t>
            </a:r>
          </a:p>
        </p:txBody>
      </p:sp>
      <p:sp>
        <p:nvSpPr>
          <p:cNvPr id="13" name="TextBox 13"/>
          <p:cNvSpPr txBox="1"/>
          <p:nvPr/>
        </p:nvSpPr>
        <p:spPr>
          <a:xfrm>
            <a:off x="2597513" y="7521336"/>
            <a:ext cx="5580978" cy="398343"/>
          </a:xfrm>
          <a:prstGeom prst="rect">
            <a:avLst/>
          </a:prstGeom>
        </p:spPr>
        <p:txBody>
          <a:bodyPr lIns="0" tIns="0" rIns="0" bIns="0" rtlCol="0" anchor="t">
            <a:spAutoFit/>
          </a:bodyPr>
          <a:lstStyle/>
          <a:p>
            <a:pPr algn="just">
              <a:lnSpc>
                <a:spcPts val="3036"/>
              </a:lnSpc>
            </a:pPr>
            <a:r>
              <a:rPr lang="en-US" sz="2687" b="1" dirty="0">
                <a:solidFill>
                  <a:srgbClr val="000000"/>
                </a:solidFill>
                <a:latin typeface="Canva Sans Bold"/>
                <a:ea typeface="Canva Sans Bold"/>
                <a:cs typeface="Canva Sans Bold"/>
                <a:sym typeface="Canva Sans Bold"/>
              </a:rPr>
              <a:t>Dataset</a:t>
            </a:r>
          </a:p>
        </p:txBody>
      </p:sp>
      <p:sp>
        <p:nvSpPr>
          <p:cNvPr id="14" name="TextBox 14"/>
          <p:cNvSpPr txBox="1"/>
          <p:nvPr/>
        </p:nvSpPr>
        <p:spPr>
          <a:xfrm>
            <a:off x="2597513" y="7980283"/>
            <a:ext cx="13544187" cy="641394"/>
          </a:xfrm>
          <a:prstGeom prst="rect">
            <a:avLst/>
          </a:prstGeom>
        </p:spPr>
        <p:txBody>
          <a:bodyPr wrap="square" lIns="0" tIns="0" rIns="0" bIns="0" rtlCol="0" anchor="t">
            <a:spAutoFit/>
          </a:bodyPr>
          <a:lstStyle/>
          <a:p>
            <a:pPr algn="l">
              <a:lnSpc>
                <a:spcPts val="2557"/>
              </a:lnSpc>
            </a:pPr>
            <a:r>
              <a:rPr lang="en-US" sz="2000" dirty="0">
                <a:solidFill>
                  <a:srgbClr val="000000"/>
                </a:solidFill>
                <a:latin typeface="Montserrat"/>
                <a:ea typeface="Montserrat"/>
                <a:cs typeface="Montserrat"/>
                <a:sym typeface="Montserrat"/>
              </a:rPr>
              <a:t>Build a knowledge base + evaluation dataset by extracting data from government sources and organizing it + Synthetic database to simulate real user questions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sp>
        <p:nvSpPr>
          <p:cNvPr id="3" name="Freeform 3"/>
          <p:cNvSpPr/>
          <p:nvPr/>
        </p:nvSpPr>
        <p:spPr>
          <a:xfrm rot="-10800000">
            <a:off x="13959558" y="6682068"/>
            <a:ext cx="4285209" cy="3604932"/>
          </a:xfrm>
          <a:custGeom>
            <a:avLst/>
            <a:gdLst/>
            <a:ahLst/>
            <a:cxnLst/>
            <a:rect l="l" t="t" r="r" b="b"/>
            <a:pathLst>
              <a:path w="4285209" h="3604932">
                <a:moveTo>
                  <a:pt x="0" y="0"/>
                </a:moveTo>
                <a:lnTo>
                  <a:pt x="4285209" y="0"/>
                </a:lnTo>
                <a:lnTo>
                  <a:pt x="4285209" y="3604932"/>
                </a:lnTo>
                <a:lnTo>
                  <a:pt x="0" y="3604932"/>
                </a:lnTo>
                <a:lnTo>
                  <a:pt x="0" y="0"/>
                </a:lnTo>
                <a:close/>
              </a:path>
            </a:pathLst>
          </a:custGeom>
          <a:blipFill>
            <a:blip r:embed="rId2"/>
            <a:stretch>
              <a:fillRect/>
            </a:stretch>
          </a:blipFill>
        </p:spPr>
        <p:txBody>
          <a:bodyPr/>
          <a:lstStyle/>
          <a:p>
            <a:endParaRPr lang="en-IN"/>
          </a:p>
        </p:txBody>
      </p:sp>
      <p:grpSp>
        <p:nvGrpSpPr>
          <p:cNvPr id="4" name="Group 4"/>
          <p:cNvGrpSpPr/>
          <p:nvPr/>
        </p:nvGrpSpPr>
        <p:grpSpPr>
          <a:xfrm>
            <a:off x="1014224" y="8058427"/>
            <a:ext cx="1199873" cy="119987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3CD3"/>
            </a:solidFill>
          </p:spPr>
          <p:txBody>
            <a:bodyPr/>
            <a:lstStyle/>
            <a:p>
              <a:endParaRPr lang="en-IN"/>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8309737"/>
            <a:ext cx="1113905" cy="629303"/>
          </a:xfrm>
          <a:prstGeom prst="rect">
            <a:avLst/>
          </a:prstGeom>
        </p:spPr>
        <p:txBody>
          <a:bodyPr lIns="0" tIns="0" rIns="0" bIns="0" rtlCol="0" anchor="t">
            <a:spAutoFit/>
          </a:bodyPr>
          <a:lstStyle/>
          <a:p>
            <a:pPr algn="ctr">
              <a:lnSpc>
                <a:spcPts val="5213"/>
              </a:lnSpc>
            </a:pPr>
            <a:r>
              <a:rPr lang="en-US" sz="3724" b="1">
                <a:solidFill>
                  <a:srgbClr val="FFFFFF"/>
                </a:solidFill>
                <a:latin typeface="Montserrat Bold"/>
                <a:ea typeface="Montserrat Bold"/>
                <a:cs typeface="Montserrat Bold"/>
                <a:sym typeface="Montserrat Bold"/>
              </a:rPr>
              <a:t>4</a:t>
            </a:r>
          </a:p>
        </p:txBody>
      </p:sp>
      <p:sp>
        <p:nvSpPr>
          <p:cNvPr id="9" name="TextBox 9"/>
          <p:cNvSpPr txBox="1"/>
          <p:nvPr/>
        </p:nvSpPr>
        <p:spPr>
          <a:xfrm>
            <a:off x="2610213" y="800100"/>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Tech Stack</a:t>
            </a:r>
          </a:p>
        </p:txBody>
      </p:sp>
      <p:sp>
        <p:nvSpPr>
          <p:cNvPr id="10" name="TextBox 10"/>
          <p:cNvSpPr txBox="1"/>
          <p:nvPr/>
        </p:nvSpPr>
        <p:spPr>
          <a:xfrm>
            <a:off x="2610213" y="6650157"/>
            <a:ext cx="5580978" cy="398343"/>
          </a:xfrm>
          <a:prstGeom prst="rect">
            <a:avLst/>
          </a:prstGeom>
        </p:spPr>
        <p:txBody>
          <a:bodyPr lIns="0" tIns="0" rIns="0" bIns="0" rtlCol="0" anchor="t">
            <a:spAutoFit/>
          </a:bodyPr>
          <a:lstStyle/>
          <a:p>
            <a:pPr algn="just">
              <a:lnSpc>
                <a:spcPts val="3036"/>
              </a:lnSpc>
            </a:pPr>
            <a:r>
              <a:rPr lang="en-US" sz="2800" b="1" dirty="0">
                <a:solidFill>
                  <a:srgbClr val="000000"/>
                </a:solidFill>
                <a:latin typeface="Canva Sans Bold"/>
                <a:ea typeface="Canva Sans Bold"/>
                <a:cs typeface="Canva Sans Bold"/>
                <a:sym typeface="Canva Sans Bold"/>
              </a:rPr>
              <a:t>Expected outcome</a:t>
            </a:r>
          </a:p>
        </p:txBody>
      </p:sp>
      <p:sp>
        <p:nvSpPr>
          <p:cNvPr id="12" name="TextBox 12"/>
          <p:cNvSpPr txBox="1"/>
          <p:nvPr/>
        </p:nvSpPr>
        <p:spPr>
          <a:xfrm>
            <a:off x="2610213" y="7068109"/>
            <a:ext cx="12782187" cy="2667397"/>
          </a:xfrm>
          <a:prstGeom prst="rect">
            <a:avLst/>
          </a:prstGeom>
        </p:spPr>
        <p:txBody>
          <a:bodyPr wrap="square" lIns="0" tIns="0" rIns="0" bIns="0" rtlCol="0" anchor="t">
            <a:spAutoFit/>
          </a:bodyPr>
          <a:lstStyle/>
          <a:p>
            <a:pPr marL="197173" lvl="1" algn="l">
              <a:lnSpc>
                <a:spcPts val="2557"/>
              </a:lnSpc>
            </a:pPr>
            <a:r>
              <a:rPr lang="en-US" sz="2400" dirty="0">
                <a:solidFill>
                  <a:srgbClr val="000000"/>
                </a:solidFill>
                <a:latin typeface="Montserrat"/>
                <a:ea typeface="Montserrat"/>
                <a:cs typeface="Montserrat"/>
                <a:sym typeface="Montserrat"/>
              </a:rPr>
              <a:t>An application where users can:</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Ask questions about government services in natural language</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Find relevant government services/information</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Receive explanations based on official documents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Identify required documents and requirements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Convert complex processes into an understandable form</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Receive source citations</a:t>
            </a:r>
          </a:p>
          <a:p>
            <a:pPr marL="654373" lvl="1" indent="-457200" algn="l">
              <a:lnSpc>
                <a:spcPts val="2557"/>
              </a:lnSpc>
              <a:buFont typeface="+mj-lt"/>
              <a:buAutoNum type="arabicPeriod"/>
            </a:pPr>
            <a:r>
              <a:rPr lang="en-US" sz="2400" dirty="0">
                <a:solidFill>
                  <a:srgbClr val="000000"/>
                </a:solidFill>
                <a:latin typeface="Montserrat"/>
                <a:ea typeface="Montserrat"/>
                <a:cs typeface="Montserrat"/>
                <a:sym typeface="Montserrat"/>
              </a:rPr>
              <a:t>Use system through and accessibility-oriented interface</a:t>
            </a:r>
          </a:p>
        </p:txBody>
      </p:sp>
      <p:sp>
        <p:nvSpPr>
          <p:cNvPr id="16" name="TextBox 11">
            <a:extLst>
              <a:ext uri="{FF2B5EF4-FFF2-40B4-BE49-F238E27FC236}">
                <a16:creationId xmlns:a16="http://schemas.microsoft.com/office/drawing/2014/main" id="{16FE5A85-D0DF-D968-5498-5BA5DE1BB920}"/>
              </a:ext>
            </a:extLst>
          </p:cNvPr>
          <p:cNvSpPr txBox="1"/>
          <p:nvPr/>
        </p:nvSpPr>
        <p:spPr>
          <a:xfrm>
            <a:off x="2610213" y="1256903"/>
            <a:ext cx="14229987" cy="5334794"/>
          </a:xfrm>
          <a:prstGeom prst="rect">
            <a:avLst/>
          </a:prstGeom>
        </p:spPr>
        <p:txBody>
          <a:bodyPr wrap="square" lIns="0" tIns="0" rIns="0" bIns="0" rtlCol="0" anchor="t">
            <a:spAutoFit/>
          </a:bodyPr>
          <a:lstStyle/>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RAG framework: LangChain</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LLM: Ollama + Llama 3.18</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Document Parsing: PyMuPDF + python-docx</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Chunking: LangChain RecurssiveCharacterText Splitter</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Vector store: ChromaDB</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Retrieval: LangChain Hybrid Retriever + BM25 + dense retrieval</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 Reranking: cross-encoder/ ms-macro-</a:t>
            </a:r>
            <a:r>
              <a:rPr lang="en-US" sz="2400" dirty="0" err="1">
                <a:solidFill>
                  <a:srgbClr val="000000"/>
                </a:solidFill>
                <a:latin typeface="Montserrat"/>
                <a:ea typeface="Montserrat"/>
                <a:cs typeface="Montserrat"/>
                <a:sym typeface="Montserrat"/>
              </a:rPr>
              <a:t>MiniLM</a:t>
            </a:r>
            <a:r>
              <a:rPr lang="en-US" sz="2400" dirty="0">
                <a:solidFill>
                  <a:srgbClr val="000000"/>
                </a:solidFill>
                <a:latin typeface="Montserrat"/>
                <a:ea typeface="Montserrat"/>
                <a:cs typeface="Montserrat"/>
                <a:sym typeface="Montserrat"/>
              </a:rPr>
              <a:t> via Hugging Face</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Backend API: Fast API + Pydantic v2</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Frontend: Streamlit</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Storage-Documents: MinlO</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Storage-metadata: PostgreSQL</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Experiment and RAG tracking: Mlflow</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Evaluation: Ragas + Mlflow evaluation</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Containerization: Docker</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CI/CD: GitHub Actions</a:t>
            </a:r>
          </a:p>
          <a:p>
            <a:pPr marL="342900" indent="-342900" algn="just">
              <a:lnSpc>
                <a:spcPts val="2557"/>
              </a:lnSpc>
              <a:spcBef>
                <a:spcPct val="0"/>
              </a:spcBef>
              <a:buFont typeface="Wingdings" panose="05000000000000000000" pitchFamily="2" charset="2"/>
              <a:buChar char="§"/>
            </a:pPr>
            <a:r>
              <a:rPr lang="en-US" sz="2400" dirty="0">
                <a:solidFill>
                  <a:srgbClr val="000000"/>
                </a:solidFill>
                <a:latin typeface="Montserrat"/>
                <a:ea typeface="Montserrat"/>
                <a:cs typeface="Montserrat"/>
                <a:sym typeface="Montserrat"/>
              </a:rPr>
              <a:t>Deployment: Docker compose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9918" y="2795512"/>
            <a:ext cx="20127836" cy="11161800"/>
          </a:xfrm>
          <a:custGeom>
            <a:avLst/>
            <a:gdLst/>
            <a:ahLst/>
            <a:cxnLst/>
            <a:rect l="l" t="t" r="r" b="b"/>
            <a:pathLst>
              <a:path w="20127836" h="11161800">
                <a:moveTo>
                  <a:pt x="0" y="0"/>
                </a:moveTo>
                <a:lnTo>
                  <a:pt x="20127836" y="0"/>
                </a:lnTo>
                <a:lnTo>
                  <a:pt x="20127836" y="11161800"/>
                </a:lnTo>
                <a:lnTo>
                  <a:pt x="0" y="11161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TextBox 3"/>
          <p:cNvSpPr txBox="1"/>
          <p:nvPr/>
        </p:nvSpPr>
        <p:spPr>
          <a:xfrm>
            <a:off x="2988220" y="2641646"/>
            <a:ext cx="12311559" cy="2747168"/>
          </a:xfrm>
          <a:prstGeom prst="rect">
            <a:avLst/>
          </a:prstGeom>
        </p:spPr>
        <p:txBody>
          <a:bodyPr lIns="0" tIns="0" rIns="0" bIns="0" rtlCol="0" anchor="t">
            <a:spAutoFit/>
          </a:bodyPr>
          <a:lstStyle/>
          <a:p>
            <a:pPr algn="ctr">
              <a:lnSpc>
                <a:spcPts val="22450"/>
              </a:lnSpc>
            </a:pPr>
            <a:r>
              <a:rPr lang="en-US" sz="15922" b="1">
                <a:solidFill>
                  <a:srgbClr val="1C1C1C"/>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555</Words>
  <Application>Microsoft Office PowerPoint</Application>
  <PresentationFormat>Custom</PresentationFormat>
  <Paragraphs>85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Montserrat</vt:lpstr>
      <vt:lpstr>Arial</vt:lpstr>
      <vt:lpstr>Wingdings</vt:lpstr>
      <vt:lpstr>Calibri</vt:lpstr>
      <vt:lpstr>Canva Sans Bold</vt:lpstr>
      <vt:lpstr>Montserrat Bold</vt:lpstr>
      <vt:lpstr>Office Theme</vt:lpstr>
      <vt:lpstr>LTM Zeroth review</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LTM_0th_review_RahiMehta</dc:title>
  <dc:creator>Rahi Sanxipt Mehta</dc:creator>
  <cp:lastModifiedBy>Rahi Sanxipt Mehta</cp:lastModifiedBy>
  <cp:revision>3</cp:revision>
  <dcterms:created xsi:type="dcterms:W3CDTF">2006-08-16T00:00:00Z</dcterms:created>
  <dcterms:modified xsi:type="dcterms:W3CDTF">2026-08-28T05:56:42Z</dcterms:modified>
  <dc:identifier>DAHTihkr1ag</dc:identifier>
</cp:coreProperties>
</file>